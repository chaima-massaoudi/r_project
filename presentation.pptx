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haima-massaoudi.github.io/R_project/" TargetMode="External" /><Relationship Id="rId3" Type="http://schemas.openxmlformats.org/officeDocument/2006/relationships/hyperlink" Target="https://github.com/chaima-massaoudi/R_project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chaima-massaoudi" TargetMode="External" /><Relationship Id="rId3" Type="http://schemas.openxmlformats.org/officeDocument/2006/relationships/hyperlink" Target="https://chaima-massaoudi.github.io/R_project/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تحليل نسب النجاح في الباكالوريا التونسية 2025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Analyse des taux de réussite au Baccalauréat Tunisien 2025</a:t>
            </a:r>
            <a:br/>
            <a:br/>
            <a:r>
              <a:rPr/>
              <a:t>Chaima Massaoudi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2025-01-01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المحتوى |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بالعربية:</a:t>
            </a:r>
          </a:p>
          <a:p>
            <a:pPr lvl="0" indent="-342900" marL="342900">
              <a:buAutoNum type="arabicPeriod"/>
            </a:pPr>
            <a:r>
              <a:rPr/>
              <a:t>مقدمة عن المشروع</a:t>
            </a:r>
          </a:p>
          <a:p>
            <a:pPr lvl="0" indent="-342900" marL="342900">
              <a:buAutoNum type="arabicPeriod"/>
            </a:pPr>
            <a:r>
              <a:rPr/>
              <a:t>مصادر البيانات</a:t>
            </a:r>
          </a:p>
          <a:p>
            <a:pPr lvl="0" indent="-342900" marL="342900">
              <a:buAutoNum type="arabicPeriod"/>
            </a:pPr>
            <a:r>
              <a:rPr/>
              <a:t>التحليل الإحصائي</a:t>
            </a:r>
          </a:p>
          <a:p>
            <a:pPr lvl="0" indent="-342900" marL="342900">
              <a:buAutoNum type="arabicPeriod"/>
            </a:pPr>
            <a:r>
              <a:rPr/>
              <a:t>النتائج الرئيسية</a:t>
            </a:r>
          </a:p>
          <a:p>
            <a:pPr lvl="0" indent="-342900" marL="342900">
              <a:buAutoNum type="arabicPeriod"/>
            </a:pPr>
            <a:r>
              <a:rPr/>
              <a:t>الخلاصة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 Français:</a:t>
            </a:r>
          </a:p>
          <a:p>
            <a:pPr lvl="0" indent="-342900" marL="342900">
              <a:buAutoNum type="arabicPeriod"/>
            </a:pPr>
            <a:r>
              <a:rPr/>
              <a:t>Introduction au projet</a:t>
            </a:r>
          </a:p>
          <a:p>
            <a:pPr lvl="0" indent="-342900" marL="342900">
              <a:buAutoNum type="arabicPeriod"/>
            </a:pPr>
            <a:r>
              <a:rPr/>
              <a:t>Sources de données</a:t>
            </a:r>
          </a:p>
          <a:p>
            <a:pPr lvl="0" indent="-342900" marL="342900">
              <a:buAutoNum type="arabicPeriod"/>
            </a:pPr>
            <a:r>
              <a:rPr/>
              <a:t>Analyse statistique</a:t>
            </a:r>
          </a:p>
          <a:p>
            <a:pPr lvl="0" indent="-342900" marL="342900">
              <a:buAutoNum type="arabicPeriod"/>
            </a:pPr>
            <a:r>
              <a:rPr/>
              <a:t>Résultats principaux</a:t>
            </a:r>
          </a:p>
          <a:p>
            <a:pPr lvl="0" indent="-342900" marL="342900">
              <a:buAutoNum type="arabicPeriod"/>
            </a:pPr>
            <a:r>
              <a:rPr/>
              <a:t>Conclusion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أهداف المشروع |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الأهداف</a:t>
            </a:r>
          </a:p>
          <a:p>
            <a:pPr lvl="0"/>
            <a:r>
              <a:rPr/>
              <a:t>تحليل نسب النجاح في الباكالوريا 2025</a:t>
            </a:r>
          </a:p>
          <a:p>
            <a:pPr lvl="0"/>
            <a:r>
              <a:rPr/>
              <a:t>مقارنة النتائج حسب الشعب</a:t>
            </a:r>
          </a:p>
          <a:p>
            <a:pPr lvl="0"/>
            <a:r>
              <a:rPr/>
              <a:t>دراسة الفوارق الجهوية</a:t>
            </a:r>
          </a:p>
          <a:p>
            <a:pPr lvl="0"/>
            <a:r>
              <a:rPr/>
              <a:t>تقديم توصيات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Objectifs</a:t>
            </a:r>
          </a:p>
          <a:p>
            <a:pPr lvl="0"/>
            <a:r>
              <a:rPr/>
              <a:t>Analyser les taux de réussite du Bac 2025</a:t>
            </a:r>
          </a:p>
          <a:p>
            <a:pPr lvl="0"/>
            <a:r>
              <a:rPr/>
              <a:t>Comparer les résultats par filière</a:t>
            </a:r>
          </a:p>
          <a:p>
            <a:pPr lvl="0"/>
            <a:r>
              <a:rPr/>
              <a:t>Étudier les disparités régionales</a:t>
            </a:r>
          </a:p>
          <a:p>
            <a:pPr lvl="0"/>
            <a:r>
              <a:rPr/>
              <a:t>Proposer des recommandations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📊 مصادر البيانات | Sources de Données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البيانات المستخدمة | Données utilisées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العنصر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الوصف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المصدر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وزارة التربية التونسية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السنة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الشعب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شعب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الجهات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مندوبية جهوية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المتغيرات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عدد المترشحين، الناجحين، نسب النجاح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نسب النجاح حسب الشعب | Taux par Filière</a:t>
            </a:r>
          </a:p>
        </p:txBody>
      </p:sp>
      <p:pic>
        <p:nvPicPr>
          <p:cNvPr descr="presentation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193800"/>
            <a:ext cx="7454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🏆 أفضل النتائج | Meilleurs Résultats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الشعبة | Filière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نسبة النجاح (%)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رياضيات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74.93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رياضة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73.33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علوم الإعلامية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48.47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العلوم التجريبية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45.83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الملاحظات الرئيسية:</a:t>
            </a:r>
          </a:p>
          <a:p>
            <a:pPr lvl="0"/>
            <a:r>
              <a:rPr b="1"/>
              <a:t>فنون التشكيل</a:t>
            </a:r>
            <a:r>
              <a:rPr/>
              <a:t> تتصدر بنسبة 80%</a:t>
            </a:r>
          </a:p>
          <a:p>
            <a:pPr lvl="0"/>
            <a:r>
              <a:rPr b="1"/>
              <a:t>الرياضيات</a:t>
            </a:r>
            <a:r>
              <a:rPr/>
              <a:t> في المرتبة الثانية بـ 71.09%</a:t>
            </a:r>
          </a:p>
          <a:p>
            <a:pPr lvl="0"/>
            <a:r>
              <a:rPr b="1"/>
              <a:t>الرياضة</a:t>
            </a:r>
            <a:r>
              <a:rPr/>
              <a:t> تحقق 69.73%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📍 التوزيع الجهوي | Distribution Régionale</a:t>
            </a:r>
          </a:p>
        </p:txBody>
      </p:sp>
      <p:pic>
        <p:nvPicPr>
          <p:cNvPr descr="presentation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193800"/>
            <a:ext cx="7454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الإحصائيات الوصفية | Statistiques Descriptives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المقياس | Mesure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القيمة | Valeur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المعدل الوطني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57.42%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أعلى نسبة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71.31%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أدنى نسبة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43.08%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الانحراف المعياري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7.71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📉 الفجوة بين الشعب | Écart entre Filières</a:t>
            </a:r>
          </a:p>
        </p:txBody>
      </p:sp>
      <p:pic>
        <p:nvPicPr>
          <p:cNvPr descr="presentation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06500"/>
            <a:ext cx="8229600" cy="336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الأدوات المستخدمة | Outils Utilisés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التقنيات</a:t>
            </a:r>
          </a:p>
          <a:p>
            <a:pPr lvl="0"/>
            <a:r>
              <a:rPr b="1"/>
              <a:t>R</a:t>
            </a:r>
            <a:r>
              <a:rPr/>
              <a:t> - التحليل الإحصائي</a:t>
            </a:r>
          </a:p>
          <a:p>
            <a:pPr lvl="0"/>
            <a:r>
              <a:rPr b="1"/>
              <a:t>Quarto</a:t>
            </a:r>
            <a:r>
              <a:rPr/>
              <a:t> - النشر العلمي</a:t>
            </a:r>
          </a:p>
          <a:p>
            <a:pPr lvl="0"/>
            <a:r>
              <a:rPr b="1"/>
              <a:t>ggplot2</a:t>
            </a:r>
            <a:r>
              <a:rPr/>
              <a:t> - التصورات البيانية</a:t>
            </a:r>
          </a:p>
          <a:p>
            <a:pPr lvl="0"/>
            <a:r>
              <a:rPr b="1"/>
              <a:t>dplyr</a:t>
            </a:r>
            <a:r>
              <a:rPr/>
              <a:t> - معالجة البيانات</a:t>
            </a:r>
          </a:p>
          <a:p>
            <a:pPr lvl="0"/>
            <a:r>
              <a:rPr b="1"/>
              <a:t>GitHub</a:t>
            </a:r>
            <a:r>
              <a:rPr/>
              <a:t> - التحكم في الإصدارات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Technologies</a:t>
            </a:r>
          </a:p>
          <a:p>
            <a:pPr lvl="0"/>
            <a:r>
              <a:rPr b="1"/>
              <a:t>R</a:t>
            </a:r>
            <a:r>
              <a:rPr/>
              <a:t> - Analyse statistique</a:t>
            </a:r>
          </a:p>
          <a:p>
            <a:pPr lvl="0"/>
            <a:r>
              <a:rPr b="1"/>
              <a:t>Quarto</a:t>
            </a:r>
            <a:r>
              <a:rPr/>
              <a:t> - Publication scientifique</a:t>
            </a:r>
          </a:p>
          <a:p>
            <a:pPr lvl="0"/>
            <a:r>
              <a:rPr b="1"/>
              <a:t>ggplot2</a:t>
            </a:r>
            <a:r>
              <a:rPr/>
              <a:t> - Visualisations</a:t>
            </a:r>
          </a:p>
          <a:p>
            <a:pPr lvl="0"/>
            <a:r>
              <a:rPr b="1"/>
              <a:t>dplyr</a:t>
            </a:r>
            <a:r>
              <a:rPr/>
              <a:t> - Manipulation des données</a:t>
            </a:r>
          </a:p>
          <a:p>
            <a:pPr lvl="0"/>
            <a:r>
              <a:rPr b="1"/>
              <a:t>GitHub</a:t>
            </a:r>
            <a:r>
              <a:rPr/>
              <a:t> - Contrôle de version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روابط المشروع | Liens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🌐 الموقع | Site Web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chaima-massaoudi.github.io/R_project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المستودع | Repository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github.com/chaima-massaoudi/R_project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📁 الملفات الرئيسية | Fichiers Principaux</a:t>
            </a:r>
          </a:p>
          <a:p>
            <a:pPr lvl="0"/>
            <a:r>
              <a:rPr>
                <a:latin typeface="Courier"/>
              </a:rPr>
              <a:t>analysis.ipynb</a:t>
            </a:r>
            <a:r>
              <a:rPr/>
              <a:t> - Jupyter Notebook (R)</a:t>
            </a:r>
          </a:p>
          <a:p>
            <a:pPr lvl="0"/>
            <a:r>
              <a:rPr>
                <a:latin typeface="Courier"/>
              </a:rPr>
              <a:t>R/run_analysis.R</a:t>
            </a:r>
            <a:r>
              <a:rPr/>
              <a:t> - Script R principal</a:t>
            </a:r>
          </a:p>
          <a:p>
            <a:pPr lvl="0"/>
            <a:r>
              <a:rPr>
                <a:latin typeface="Courier"/>
              </a:rPr>
              <a:t>*.qmd</a:t>
            </a:r>
            <a:r>
              <a:rPr/>
              <a:t> - Pages Quarto</a:t>
            </a:r>
          </a:p>
          <a:p>
            <a:pPr lvl="0"/>
            <a:r>
              <a:rPr>
                <a:latin typeface="Courier"/>
              </a:rPr>
              <a:t>data/Bac2025.xlsx</a:t>
            </a:r>
            <a:r>
              <a:rPr/>
              <a:t> - Données source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الخلاصة |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النتائج الرئيسية</a:t>
            </a:r>
          </a:p>
          <a:p>
            <a:pPr lvl="0"/>
            <a:r>
              <a:rPr/>
              <a:t>المعدل الوطني: </a:t>
            </a:r>
            <a:r>
              <a:rPr b="1"/>
              <a:t>53.05%</a:t>
            </a:r>
          </a:p>
          <a:p>
            <a:pPr lvl="0"/>
            <a:r>
              <a:rPr/>
              <a:t>أفضل شعبة: </a:t>
            </a:r>
            <a:r>
              <a:rPr b="1"/>
              <a:t>فنون التشكيل</a:t>
            </a:r>
            <a:r>
              <a:rPr/>
              <a:t> (80%)</a:t>
            </a:r>
          </a:p>
          <a:p>
            <a:pPr lvl="0"/>
            <a:r>
              <a:rPr/>
              <a:t>فوارق جهوية ملحوظة</a:t>
            </a:r>
          </a:p>
          <a:p>
            <a:pPr lvl="0"/>
            <a:r>
              <a:rPr/>
              <a:t>شعب علمية تتفوق على الأدبية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Résultats Clés</a:t>
            </a:r>
          </a:p>
          <a:p>
            <a:pPr lvl="0"/>
            <a:r>
              <a:rPr/>
              <a:t>Moyenne nationale: </a:t>
            </a:r>
            <a:r>
              <a:rPr b="1"/>
              <a:t>53.05%</a:t>
            </a:r>
          </a:p>
          <a:p>
            <a:pPr lvl="0"/>
            <a:r>
              <a:rPr/>
              <a:t>Meilleure filière: </a:t>
            </a:r>
            <a:r>
              <a:rPr b="1"/>
              <a:t>Arts</a:t>
            </a:r>
            <a:r>
              <a:rPr/>
              <a:t> (80%)</a:t>
            </a:r>
          </a:p>
          <a:p>
            <a:pPr lvl="0"/>
            <a:r>
              <a:rPr/>
              <a:t>Disparités régionales notables</a:t>
            </a:r>
          </a:p>
          <a:p>
            <a:pPr lvl="0"/>
            <a:r>
              <a:rPr/>
              <a:t>Filières scientifiques surpassent littéraires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🙏 شكراً | Merci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Chaima Massaoudi</a:t>
            </a:r>
          </a:p>
          <a:p>
            <a:pPr lvl="0" indent="0" marL="0">
              <a:buNone/>
            </a:pPr>
            <a:r>
              <a:rPr/>
              <a:t>📧 Contact: </a:t>
            </a:r>
            <a:r>
              <a:rPr>
                <a:hlinkClick r:id="rId2"/>
              </a:rPr>
              <a:t>GitHub Profile</a:t>
            </a:r>
          </a:p>
          <a:p>
            <a:pPr lvl="0" indent="0" marL="0">
              <a:buNone/>
            </a:pPr>
            <a:r>
              <a:rPr/>
              <a:t>🔗 </a:t>
            </a:r>
            <a:r>
              <a:rPr>
                <a:hlinkClick r:id="rId3"/>
              </a:rPr>
              <a:t>chaima-massaoudi.github.io/R_project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❓ الأسئلة | Questions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؟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هل لديكم أسئلة؟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Avez-vous des 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تحليل نسب النجاح في الباكالوريا التونسية 2025</dc:title>
  <dc:creator>Chaima Massaoudi</dc:creator>
  <cp:keywords/>
  <dcterms:created xsi:type="dcterms:W3CDTF">2026-01-07T01:03:04Z</dcterms:created>
  <dcterms:modified xsi:type="dcterms:W3CDTF">2026-01-07T01:03:04Z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csl">
    <vt:lpwstr>apa.csl</vt:lpwstr>
  </property>
  <property fmtid="{D5CDD505-2E9C-101B-9397-08002B2CF9AE}" pid="7" name="date">
    <vt:lpwstr>2025-01-01</vt:lpwstr>
  </property>
  <property fmtid="{D5CDD505-2E9C-101B-9397-08002B2CF9AE}" pid="8" name="dir">
    <vt:lpwstr>rtl</vt:lpwstr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subtitle">
    <vt:lpwstr>Analyse des taux de réussite au Baccalauréat Tunisien 2025</vt:lpwstr>
  </property>
  <property fmtid="{D5CDD505-2E9C-101B-9397-08002B2CF9AE}" pid="15" name="toc-title">
    <vt:lpwstr>Table of contents</vt:lpwstr>
  </property>
</Properties>
</file>